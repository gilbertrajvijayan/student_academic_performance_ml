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7" r:id="rId1"/>
  </p:sldMasterIdLst>
  <p:sldIdLst>
    <p:sldId id="256" r:id="rId2"/>
    <p:sldId id="257" r:id="rId3"/>
    <p:sldId id="258" r:id="rId4"/>
    <p:sldId id="259" r:id="rId5"/>
    <p:sldId id="260" r:id="rId6"/>
    <p:sldId id="261" r:id="rId7"/>
    <p:sldId id="262" r:id="rId8"/>
    <p:sldId id="269" r:id="rId9"/>
    <p:sldId id="270" r:id="rId10"/>
    <p:sldId id="272" r:id="rId11"/>
    <p:sldId id="271" r:id="rId12"/>
    <p:sldId id="264" r:id="rId13"/>
    <p:sldId id="267" r:id="rId14"/>
    <p:sldId id="268" r:id="rId15"/>
    <p:sldId id="273"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90"/>
  </p:normalViewPr>
  <p:slideViewPr>
    <p:cSldViewPr snapToGrid="0">
      <p:cViewPr varScale="1">
        <p:scale>
          <a:sx n="111" d="100"/>
          <a:sy n="111" d="100"/>
        </p:scale>
        <p:origin x="64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1127854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579827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635740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948359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1679058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476843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3046608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4221910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3671333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378515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F07CD3FD-BE54-4400-942B-C6C15AA73DFD}" type="datetimeFigureOut">
              <a:rPr lang="en-US" smtClean="0"/>
              <a:t>4/9/26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382383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9000"/>
                    </a14:imgEffect>
                    <a14:imgEffect>
                      <a14:brightnessContrast bright="-62000" contrast="2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F07CD3FD-BE54-4400-942B-C6C15AA73DFD}" type="datetimeFigureOut">
              <a:rPr lang="en-US" smtClean="0"/>
              <a:t>4/9/26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A4C0CD32-A6C8-4BA5-B3DF-D8325E32CAA4}" type="slidenum">
              <a:rPr lang="en-US" smtClean="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9723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6" r:id="rId6"/>
    <p:sldLayoutId id="2147483791" r:id="rId7"/>
    <p:sldLayoutId id="2147483792" r:id="rId8"/>
    <p:sldLayoutId id="2147483793" r:id="rId9"/>
    <p:sldLayoutId id="2147483795" r:id="rId10"/>
    <p:sldLayoutId id="2147483794"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Coloured pencils inside a pencil holder which is on top of a wood table">
            <a:extLst>
              <a:ext uri="{FF2B5EF4-FFF2-40B4-BE49-F238E27FC236}">
                <a16:creationId xmlns:a16="http://schemas.microsoft.com/office/drawing/2014/main" id="{992B6DB9-AE3A-F768-A92C-2E1E2C36CFDE}"/>
              </a:ext>
            </a:extLst>
          </p:cNvPr>
          <p:cNvPicPr>
            <a:picLocks noChangeAspect="1"/>
          </p:cNvPicPr>
          <p:nvPr/>
        </p:nvPicPr>
        <p:blipFill rotWithShape="1">
          <a:blip r:embed="rId2">
            <a:alphaModFix amt="40000"/>
          </a:blip>
          <a:srcRect t="15732"/>
          <a:stretch/>
        </p:blipFill>
        <p:spPr>
          <a:xfrm>
            <a:off x="20" y="152"/>
            <a:ext cx="12191980" cy="6857848"/>
          </a:xfrm>
          <a:prstGeom prst="rect">
            <a:avLst/>
          </a:prstGeom>
        </p:spPr>
      </p:pic>
      <p:sp>
        <p:nvSpPr>
          <p:cNvPr id="2" name="Title 1">
            <a:extLst>
              <a:ext uri="{FF2B5EF4-FFF2-40B4-BE49-F238E27FC236}">
                <a16:creationId xmlns:a16="http://schemas.microsoft.com/office/drawing/2014/main" id="{CDAF0C3C-1D9E-3D92-F269-F47EE07E7809}"/>
              </a:ext>
            </a:extLst>
          </p:cNvPr>
          <p:cNvSpPr>
            <a:spLocks noGrp="1"/>
          </p:cNvSpPr>
          <p:nvPr>
            <p:ph type="ctrTitle"/>
          </p:nvPr>
        </p:nvSpPr>
        <p:spPr>
          <a:xfrm>
            <a:off x="912629" y="1371600"/>
            <a:ext cx="5758628" cy="2696866"/>
          </a:xfrm>
        </p:spPr>
        <p:txBody>
          <a:bodyPr anchor="t">
            <a:normAutofit/>
          </a:bodyPr>
          <a:lstStyle/>
          <a:p>
            <a:r>
              <a:rPr lang="en-US" dirty="0">
                <a:solidFill>
                  <a:srgbClr val="FFFFFF"/>
                </a:solidFill>
              </a:rPr>
              <a:t>Predicting Student’s Academic Performance using Machine Learning</a:t>
            </a:r>
          </a:p>
        </p:txBody>
      </p:sp>
      <p:sp>
        <p:nvSpPr>
          <p:cNvPr id="3" name="Subtitle 2">
            <a:extLst>
              <a:ext uri="{FF2B5EF4-FFF2-40B4-BE49-F238E27FC236}">
                <a16:creationId xmlns:a16="http://schemas.microsoft.com/office/drawing/2014/main" id="{F7D72B1C-53E4-E1B7-549E-EF09ED580C60}"/>
              </a:ext>
            </a:extLst>
          </p:cNvPr>
          <p:cNvSpPr>
            <a:spLocks noGrp="1"/>
          </p:cNvSpPr>
          <p:nvPr>
            <p:ph type="subTitle" idx="1"/>
          </p:nvPr>
        </p:nvSpPr>
        <p:spPr>
          <a:xfrm>
            <a:off x="912629" y="4184073"/>
            <a:ext cx="5758628" cy="1688694"/>
          </a:xfrm>
        </p:spPr>
        <p:txBody>
          <a:bodyPr anchor="b">
            <a:normAutofit/>
          </a:bodyPr>
          <a:lstStyle/>
          <a:p>
            <a:r>
              <a:rPr lang="en-US" dirty="0">
                <a:solidFill>
                  <a:srgbClr val="FFFFFF"/>
                </a:solidFill>
              </a:rPr>
              <a:t>By ,</a:t>
            </a:r>
          </a:p>
          <a:p>
            <a:r>
              <a:rPr lang="en-US" dirty="0">
                <a:solidFill>
                  <a:srgbClr val="FFFFFF"/>
                </a:solidFill>
              </a:rPr>
              <a:t>Gilbert raj v</a:t>
            </a:r>
          </a:p>
        </p:txBody>
      </p:sp>
      <p:cxnSp>
        <p:nvCxnSpPr>
          <p:cNvPr id="26" name="Straight Connector 25">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479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F5ED9-C2FE-369C-B964-60503880B453}"/>
              </a:ext>
            </a:extLst>
          </p:cNvPr>
          <p:cNvSpPr>
            <a:spLocks noGrp="1"/>
          </p:cNvSpPr>
          <p:nvPr>
            <p:ph type="title"/>
          </p:nvPr>
        </p:nvSpPr>
        <p:spPr>
          <a:xfrm>
            <a:off x="789708" y="221673"/>
            <a:ext cx="10363200" cy="1187570"/>
          </a:xfrm>
        </p:spPr>
        <p:txBody>
          <a:bodyPr/>
          <a:lstStyle/>
          <a:p>
            <a:r>
              <a:rPr lang="en-US" dirty="0">
                <a:solidFill>
                  <a:schemeClr val="bg1"/>
                </a:solidFill>
              </a:rPr>
              <a:t>Abstract</a:t>
            </a:r>
          </a:p>
        </p:txBody>
      </p:sp>
      <p:sp>
        <p:nvSpPr>
          <p:cNvPr id="3" name="Content Placeholder 2">
            <a:extLst>
              <a:ext uri="{FF2B5EF4-FFF2-40B4-BE49-F238E27FC236}">
                <a16:creationId xmlns:a16="http://schemas.microsoft.com/office/drawing/2014/main" id="{4FD5DF0B-D436-C56A-32B7-CC4A679D05B4}"/>
              </a:ext>
            </a:extLst>
          </p:cNvPr>
          <p:cNvSpPr>
            <a:spLocks noGrp="1"/>
          </p:cNvSpPr>
          <p:nvPr>
            <p:ph idx="1"/>
          </p:nvPr>
        </p:nvSpPr>
        <p:spPr>
          <a:xfrm>
            <a:off x="789708" y="1409243"/>
            <a:ext cx="10363200" cy="4853012"/>
          </a:xfrm>
        </p:spPr>
        <p:txBody>
          <a:bodyPr>
            <a:normAutofit fontScale="92500" lnSpcReduction="10000"/>
          </a:bodyPr>
          <a:lstStyle/>
          <a:p>
            <a:r>
              <a:rPr lang="en-IN" sz="2400" b="0" i="0" dirty="0">
                <a:solidFill>
                  <a:schemeClr val="bg1"/>
                </a:solidFill>
                <a:effectLst/>
                <a:latin typeface="Söhne"/>
              </a:rPr>
              <a:t>Students face various challenges affecting their academic performance, including time management, procrastination, stress, financial issues, health problems, motivation, and inadequate resources.</a:t>
            </a:r>
          </a:p>
          <a:p>
            <a:r>
              <a:rPr lang="en-IN" sz="2400" dirty="0">
                <a:solidFill>
                  <a:schemeClr val="bg1"/>
                </a:solidFill>
                <a:latin typeface="Söhne"/>
              </a:rPr>
              <a:t>Academic challenges may also encompass issues related to teacher quality, cultural adjustment, language barriers, unrealistic expectations, and peer pressure, which can impact students' ability to excel in their studies.</a:t>
            </a:r>
          </a:p>
          <a:p>
            <a:r>
              <a:rPr lang="en-IN" sz="2400" dirty="0">
                <a:solidFill>
                  <a:schemeClr val="bg1"/>
                </a:solidFill>
                <a:latin typeface="Söhne"/>
              </a:rPr>
              <a:t>These challenges can be addressed through improved study habits, support systems, and effective coping strategies.</a:t>
            </a:r>
          </a:p>
          <a:p>
            <a:r>
              <a:rPr lang="en-US" sz="2400" dirty="0">
                <a:solidFill>
                  <a:schemeClr val="bg1"/>
                </a:solidFill>
                <a:latin typeface="Söhne"/>
              </a:rPr>
              <a:t>To overcome academic challenges, students can employ strategies like time management, seeking support, financial planning, mental health care, resisting peer pressure, utilizing technology wisely, and maintaining a healthy lifestyle.</a:t>
            </a:r>
          </a:p>
        </p:txBody>
      </p:sp>
    </p:spTree>
    <p:extLst>
      <p:ext uri="{BB962C8B-B14F-4D97-AF65-F5344CB8AC3E}">
        <p14:creationId xmlns:p14="http://schemas.microsoft.com/office/powerpoint/2010/main" val="1962751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EAA47-65E6-F66A-85BB-B6BC9BC0BE64}"/>
              </a:ext>
            </a:extLst>
          </p:cNvPr>
          <p:cNvSpPr>
            <a:spLocks noGrp="1"/>
          </p:cNvSpPr>
          <p:nvPr>
            <p:ph type="title"/>
          </p:nvPr>
        </p:nvSpPr>
        <p:spPr>
          <a:xfrm>
            <a:off x="914399" y="225404"/>
            <a:ext cx="10363200" cy="1187570"/>
          </a:xfrm>
        </p:spPr>
        <p:txBody>
          <a:bodyPr/>
          <a:lstStyle/>
          <a:p>
            <a:r>
              <a:rPr lang="en-US" dirty="0">
                <a:solidFill>
                  <a:schemeClr val="bg1"/>
                </a:solidFill>
              </a:rPr>
              <a:t>Abstract</a:t>
            </a:r>
          </a:p>
        </p:txBody>
      </p:sp>
      <p:sp>
        <p:nvSpPr>
          <p:cNvPr id="3" name="Content Placeholder 2">
            <a:extLst>
              <a:ext uri="{FF2B5EF4-FFF2-40B4-BE49-F238E27FC236}">
                <a16:creationId xmlns:a16="http://schemas.microsoft.com/office/drawing/2014/main" id="{80D8B702-58AE-C6BA-8826-405896A2CDA7}"/>
              </a:ext>
            </a:extLst>
          </p:cNvPr>
          <p:cNvSpPr>
            <a:spLocks noGrp="1"/>
          </p:cNvSpPr>
          <p:nvPr>
            <p:ph idx="1"/>
          </p:nvPr>
        </p:nvSpPr>
        <p:spPr>
          <a:xfrm>
            <a:off x="914399" y="1436762"/>
            <a:ext cx="10363200" cy="5005602"/>
          </a:xfrm>
        </p:spPr>
        <p:txBody>
          <a:bodyPr>
            <a:normAutofit/>
          </a:bodyPr>
          <a:lstStyle/>
          <a:p>
            <a:pPr lvl="1"/>
            <a:r>
              <a:rPr lang="en-IN" sz="2000" dirty="0">
                <a:solidFill>
                  <a:schemeClr val="bg1"/>
                </a:solidFill>
                <a:latin typeface="Söhne"/>
              </a:rPr>
              <a:t>Predicting a student's academic performance is a complex task that involves several factors, including past academic performance, attendance, learning style, home environment, motivation, personality traits, and social and economic background.</a:t>
            </a:r>
          </a:p>
          <a:p>
            <a:pPr lvl="1"/>
            <a:r>
              <a:rPr lang="en-IN" sz="2000" dirty="0">
                <a:solidFill>
                  <a:schemeClr val="bg1"/>
                </a:solidFill>
                <a:latin typeface="Söhne"/>
              </a:rPr>
              <a:t>We predict university dropout using random forests based on conditional inference trees and on a broad German data set covering a wide range of aspects of student life and study courses. </a:t>
            </a:r>
          </a:p>
          <a:p>
            <a:pPr lvl="1"/>
            <a:r>
              <a:rPr lang="en-IN" sz="2000">
                <a:solidFill>
                  <a:schemeClr val="bg1"/>
                </a:solidFill>
                <a:effectLst/>
                <a:latin typeface="TimesNewRomanPSMT"/>
              </a:rPr>
              <a:t>Important </a:t>
            </a:r>
            <a:r>
              <a:rPr lang="en-IN" sz="2000" dirty="0">
                <a:solidFill>
                  <a:schemeClr val="bg1"/>
                </a:solidFill>
                <a:effectLst/>
                <a:latin typeface="TimesNewRomanPSMT"/>
              </a:rPr>
              <a:t>predictors are the final grade at secondary school, and also determinants associated with student satisfaction and their subjective academic self-concept and self-assessment. </a:t>
            </a:r>
            <a:endParaRPr lang="en-IN" sz="2000" dirty="0">
              <a:solidFill>
                <a:schemeClr val="bg1"/>
              </a:solidFill>
            </a:endParaRPr>
          </a:p>
          <a:p>
            <a:pPr lvl="1"/>
            <a:endParaRPr lang="en-IN" sz="2000" dirty="0">
              <a:solidFill>
                <a:schemeClr val="bg1"/>
              </a:solidFill>
            </a:endParaRPr>
          </a:p>
          <a:p>
            <a:pPr lvl="1"/>
            <a:endParaRPr lang="en-IN" sz="2000" dirty="0">
              <a:solidFill>
                <a:schemeClr val="bg1"/>
              </a:solidFill>
              <a:latin typeface="Söhne"/>
            </a:endParaRPr>
          </a:p>
          <a:p>
            <a:pPr lvl="1"/>
            <a:endParaRPr lang="en-IN" sz="2200" dirty="0">
              <a:solidFill>
                <a:schemeClr val="bg1"/>
              </a:solidFill>
              <a:latin typeface="Söhne"/>
            </a:endParaRPr>
          </a:p>
          <a:p>
            <a:endParaRPr lang="en-US" dirty="0"/>
          </a:p>
        </p:txBody>
      </p:sp>
    </p:spTree>
    <p:extLst>
      <p:ext uri="{BB962C8B-B14F-4D97-AF65-F5344CB8AC3E}">
        <p14:creationId xmlns:p14="http://schemas.microsoft.com/office/powerpoint/2010/main" val="2763105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958F-6D9A-25D7-CCD0-790FE3ED33B1}"/>
              </a:ext>
            </a:extLst>
          </p:cNvPr>
          <p:cNvSpPr>
            <a:spLocks noGrp="1"/>
          </p:cNvSpPr>
          <p:nvPr>
            <p:ph type="title"/>
          </p:nvPr>
        </p:nvSpPr>
        <p:spPr>
          <a:xfrm>
            <a:off x="914399" y="207820"/>
            <a:ext cx="10363200" cy="1187570"/>
          </a:xfrm>
        </p:spPr>
        <p:txBody>
          <a:bodyPr/>
          <a:lstStyle/>
          <a:p>
            <a:r>
              <a:rPr lang="en-US" dirty="0">
                <a:solidFill>
                  <a:schemeClr val="bg1"/>
                </a:solidFill>
              </a:rPr>
              <a:t>Introduction</a:t>
            </a:r>
          </a:p>
        </p:txBody>
      </p:sp>
      <p:sp>
        <p:nvSpPr>
          <p:cNvPr id="3" name="Content Placeholder 2">
            <a:extLst>
              <a:ext uri="{FF2B5EF4-FFF2-40B4-BE49-F238E27FC236}">
                <a16:creationId xmlns:a16="http://schemas.microsoft.com/office/drawing/2014/main" id="{559113E4-7E1A-AB8E-3553-0745C18E44D0}"/>
              </a:ext>
            </a:extLst>
          </p:cNvPr>
          <p:cNvSpPr>
            <a:spLocks noGrp="1"/>
          </p:cNvSpPr>
          <p:nvPr>
            <p:ph idx="1"/>
          </p:nvPr>
        </p:nvSpPr>
        <p:spPr>
          <a:xfrm>
            <a:off x="914399" y="1395389"/>
            <a:ext cx="10363200" cy="4769883"/>
          </a:xfrm>
        </p:spPr>
        <p:txBody>
          <a:bodyPr>
            <a:noAutofit/>
          </a:bodyPr>
          <a:lstStyle/>
          <a:p>
            <a:r>
              <a:rPr lang="en-IN" sz="2400" dirty="0">
                <a:solidFill>
                  <a:schemeClr val="bg1"/>
                </a:solidFill>
                <a:effectLst/>
                <a:latin typeface="AvenirNextLTPro"/>
              </a:rPr>
              <a:t>The goal of this project is to develop a predictive model that can accurately predict a student's academic performance based on various factors such as their background, study habits, motivation, and socio-economic status. </a:t>
            </a:r>
          </a:p>
          <a:p>
            <a:r>
              <a:rPr lang="en-IN" sz="2400" dirty="0">
                <a:solidFill>
                  <a:schemeClr val="bg1"/>
                </a:solidFill>
                <a:effectLst/>
                <a:latin typeface="AvenirNextLTPro"/>
              </a:rPr>
              <a:t>By predicting a student's future academic success, we aim to create personalized learning plans and provide additional support to struggling students to improve overall academic performance and reduce the achievement gap. </a:t>
            </a:r>
          </a:p>
          <a:p>
            <a:r>
              <a:rPr lang="en-IN" sz="2400" dirty="0">
                <a:solidFill>
                  <a:schemeClr val="bg1"/>
                </a:solidFill>
                <a:effectLst/>
                <a:latin typeface="AvenirNextLTPro"/>
              </a:rPr>
              <a:t>To accomplish this goal, we will use machine learning algorithms and data analytics techniques to </a:t>
            </a:r>
            <a:r>
              <a:rPr lang="en-IN" sz="2400" dirty="0" err="1">
                <a:solidFill>
                  <a:schemeClr val="bg1"/>
                </a:solidFill>
                <a:effectLst/>
                <a:latin typeface="AvenirNextLTPro"/>
              </a:rPr>
              <a:t>analyze</a:t>
            </a:r>
            <a:r>
              <a:rPr lang="en-IN" sz="2400" dirty="0">
                <a:solidFill>
                  <a:schemeClr val="bg1"/>
                </a:solidFill>
                <a:effectLst/>
                <a:latin typeface="AvenirNextLTPro"/>
              </a:rPr>
              <a:t> the student data. </a:t>
            </a:r>
            <a:endParaRPr lang="en-IN" sz="2400" dirty="0">
              <a:solidFill>
                <a:schemeClr val="bg1"/>
              </a:solidFill>
            </a:endParaRPr>
          </a:p>
          <a:p>
            <a:endParaRPr lang="en-IN" sz="2400" dirty="0">
              <a:solidFill>
                <a:schemeClr val="bg1"/>
              </a:solidFill>
            </a:endParaRPr>
          </a:p>
          <a:p>
            <a:endParaRPr lang="en-IN" sz="2400" dirty="0">
              <a:solidFill>
                <a:schemeClr val="bg1"/>
              </a:solidFill>
            </a:endParaRPr>
          </a:p>
          <a:p>
            <a:endParaRPr lang="en-US" sz="2400" dirty="0"/>
          </a:p>
        </p:txBody>
      </p:sp>
    </p:spTree>
    <p:extLst>
      <p:ext uri="{BB962C8B-B14F-4D97-AF65-F5344CB8AC3E}">
        <p14:creationId xmlns:p14="http://schemas.microsoft.com/office/powerpoint/2010/main" val="1365990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559D-E556-7731-C40C-C7D63140A849}"/>
              </a:ext>
            </a:extLst>
          </p:cNvPr>
          <p:cNvSpPr>
            <a:spLocks noGrp="1"/>
          </p:cNvSpPr>
          <p:nvPr>
            <p:ph type="title"/>
          </p:nvPr>
        </p:nvSpPr>
        <p:spPr>
          <a:xfrm>
            <a:off x="914399" y="322386"/>
            <a:ext cx="10363200" cy="1187570"/>
          </a:xfrm>
        </p:spPr>
        <p:txBody>
          <a:bodyPr/>
          <a:lstStyle/>
          <a:p>
            <a:r>
              <a:rPr lang="en-US" dirty="0">
                <a:solidFill>
                  <a:schemeClr val="bg1"/>
                </a:solidFill>
              </a:rPr>
              <a:t>Literature Survey</a:t>
            </a:r>
          </a:p>
        </p:txBody>
      </p:sp>
      <p:sp>
        <p:nvSpPr>
          <p:cNvPr id="3" name="Content Placeholder 2">
            <a:extLst>
              <a:ext uri="{FF2B5EF4-FFF2-40B4-BE49-F238E27FC236}">
                <a16:creationId xmlns:a16="http://schemas.microsoft.com/office/drawing/2014/main" id="{DA4B2091-0DF1-7C7F-3B26-455C5F2E0C97}"/>
              </a:ext>
            </a:extLst>
          </p:cNvPr>
          <p:cNvSpPr>
            <a:spLocks noGrp="1"/>
          </p:cNvSpPr>
          <p:nvPr>
            <p:ph idx="1"/>
          </p:nvPr>
        </p:nvSpPr>
        <p:spPr>
          <a:xfrm>
            <a:off x="914399" y="1353826"/>
            <a:ext cx="10363200" cy="4686756"/>
          </a:xfrm>
        </p:spPr>
        <p:txBody>
          <a:bodyPr/>
          <a:lstStyle/>
          <a:p>
            <a:r>
              <a:rPr lang="en-IN" b="1" dirty="0">
                <a:solidFill>
                  <a:srgbClr val="FFFF00"/>
                </a:solidFill>
                <a:effectLst/>
              </a:rPr>
              <a:t>Predicting School Failure and Dropout by Using Data Mining Techniques Author: </a:t>
            </a:r>
            <a:r>
              <a:rPr lang="en-IN" dirty="0">
                <a:solidFill>
                  <a:schemeClr val="bg1"/>
                </a:solidFill>
                <a:effectLst/>
              </a:rPr>
              <a:t>Carlos </a:t>
            </a:r>
            <a:r>
              <a:rPr lang="en-IN" dirty="0" err="1">
                <a:solidFill>
                  <a:schemeClr val="bg1"/>
                </a:solidFill>
                <a:effectLst/>
              </a:rPr>
              <a:t>Márquez</a:t>
            </a:r>
            <a:r>
              <a:rPr lang="en-IN" dirty="0">
                <a:solidFill>
                  <a:schemeClr val="bg1"/>
                </a:solidFill>
                <a:effectLst/>
              </a:rPr>
              <a:t> , </a:t>
            </a:r>
            <a:r>
              <a:rPr lang="en-IN" dirty="0" err="1">
                <a:solidFill>
                  <a:schemeClr val="bg1"/>
                </a:solidFill>
                <a:effectLst/>
              </a:rPr>
              <a:t>Cristóbal</a:t>
            </a:r>
            <a:r>
              <a:rPr lang="en-IN" dirty="0">
                <a:solidFill>
                  <a:schemeClr val="bg1"/>
                </a:solidFill>
                <a:effectLst/>
              </a:rPr>
              <a:t> Romero </a:t>
            </a:r>
            <a:r>
              <a:rPr lang="en-IN" b="1" dirty="0">
                <a:solidFill>
                  <a:schemeClr val="bg1"/>
                </a:solidFill>
                <a:effectLst/>
              </a:rPr>
              <a:t>Year : </a:t>
            </a:r>
            <a:r>
              <a:rPr lang="en-IN" dirty="0">
                <a:solidFill>
                  <a:schemeClr val="bg1"/>
                </a:solidFill>
                <a:effectLst/>
              </a:rPr>
              <a:t>2018 </a:t>
            </a:r>
          </a:p>
          <a:p>
            <a:pPr lvl="1"/>
            <a:r>
              <a:rPr lang="en-IN" dirty="0">
                <a:solidFill>
                  <a:schemeClr val="bg2"/>
                </a:solidFill>
              </a:rPr>
              <a:t>In this research, data mining is used to predict school failure and dropout among 670 middle-school students in Zacatecas, México. The study explores different methods to improve accuracy, including using all attributes, selecting the best ones, and adjusting for data imbalances. The most effective models are highlighted.</a:t>
            </a:r>
          </a:p>
          <a:p>
            <a:r>
              <a:rPr lang="en-IN" sz="1800" b="1" dirty="0">
                <a:solidFill>
                  <a:srgbClr val="FFFF00"/>
                </a:solidFill>
                <a:effectLst/>
              </a:rPr>
              <a:t>Title: Study of Factors Analysis Affecting Academic Achievement of Undergraduate Students in International Program : </a:t>
            </a:r>
            <a:r>
              <a:rPr lang="en-IN" sz="1800" b="1" dirty="0">
                <a:solidFill>
                  <a:schemeClr val="bg1"/>
                </a:solidFill>
                <a:effectLst/>
              </a:rPr>
              <a:t>Author: </a:t>
            </a:r>
            <a:r>
              <a:rPr lang="en-IN" sz="1800" dirty="0" err="1">
                <a:solidFill>
                  <a:schemeClr val="bg1"/>
                </a:solidFill>
                <a:effectLst/>
              </a:rPr>
              <a:t>Pimpa</a:t>
            </a:r>
            <a:r>
              <a:rPr lang="en-IN" sz="1800" dirty="0">
                <a:solidFill>
                  <a:schemeClr val="bg1"/>
                </a:solidFill>
                <a:effectLst/>
              </a:rPr>
              <a:t> </a:t>
            </a:r>
            <a:r>
              <a:rPr lang="en-IN" sz="1800" dirty="0" err="1">
                <a:solidFill>
                  <a:schemeClr val="bg1"/>
                </a:solidFill>
                <a:effectLst/>
              </a:rPr>
              <a:t>Cheewaprakobkit</a:t>
            </a:r>
            <a:r>
              <a:rPr lang="en-IN" sz="1800" dirty="0">
                <a:solidFill>
                  <a:schemeClr val="bg1"/>
                </a:solidFill>
                <a:effectLst/>
              </a:rPr>
              <a:t> </a:t>
            </a:r>
            <a:r>
              <a:rPr lang="en-IN" sz="1800" b="1" dirty="0">
                <a:solidFill>
                  <a:schemeClr val="bg1"/>
                </a:solidFill>
                <a:effectLst/>
              </a:rPr>
              <a:t>Year: 2019 </a:t>
            </a:r>
          </a:p>
          <a:p>
            <a:pPr lvl="1"/>
            <a:r>
              <a:rPr lang="en-IN" dirty="0">
                <a:solidFill>
                  <a:schemeClr val="bg1"/>
                </a:solidFill>
              </a:rPr>
              <a:t>This study aims to figure out what factors impact students' academic success. Using a tool called WEKA, the researcher </a:t>
            </a:r>
            <a:r>
              <a:rPr lang="en-IN" dirty="0" err="1">
                <a:solidFill>
                  <a:schemeClr val="bg1"/>
                </a:solidFill>
              </a:rPr>
              <a:t>analyzed</a:t>
            </a:r>
            <a:r>
              <a:rPr lang="en-IN" dirty="0">
                <a:solidFill>
                  <a:schemeClr val="bg1"/>
                </a:solidFill>
              </a:rPr>
              <a:t> data from 1,600 international program students at a Thai university. They compared Decision Tree and Neural Network classifiers and found Decision Tree to be 1.313% more accurate at predicting academic performance, with an 85.188% accuracy rate.</a:t>
            </a:r>
          </a:p>
          <a:p>
            <a:pPr marL="265176" lvl="1" indent="0">
              <a:buNone/>
            </a:pPr>
            <a:endParaRPr lang="en-IN" dirty="0">
              <a:solidFill>
                <a:schemeClr val="bg1"/>
              </a:solidFill>
            </a:endParaRPr>
          </a:p>
          <a:p>
            <a:pPr lvl="1"/>
            <a:endParaRPr lang="en-US" dirty="0"/>
          </a:p>
        </p:txBody>
      </p:sp>
    </p:spTree>
    <p:extLst>
      <p:ext uri="{BB962C8B-B14F-4D97-AF65-F5344CB8AC3E}">
        <p14:creationId xmlns:p14="http://schemas.microsoft.com/office/powerpoint/2010/main" val="1683214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DE7D-94F7-C84F-E9F3-E6D8A8315B03}"/>
              </a:ext>
            </a:extLst>
          </p:cNvPr>
          <p:cNvSpPr>
            <a:spLocks noGrp="1"/>
          </p:cNvSpPr>
          <p:nvPr>
            <p:ph type="title"/>
          </p:nvPr>
        </p:nvSpPr>
        <p:spPr>
          <a:xfrm>
            <a:off x="914399" y="280821"/>
            <a:ext cx="10363200" cy="1187570"/>
          </a:xfrm>
        </p:spPr>
        <p:txBody>
          <a:bodyPr/>
          <a:lstStyle/>
          <a:p>
            <a:r>
              <a:rPr lang="en-US" dirty="0">
                <a:solidFill>
                  <a:schemeClr val="bg1"/>
                </a:solidFill>
              </a:rPr>
              <a:t>Literature Survey</a:t>
            </a:r>
          </a:p>
        </p:txBody>
      </p:sp>
      <p:sp>
        <p:nvSpPr>
          <p:cNvPr id="3" name="Content Placeholder 2">
            <a:extLst>
              <a:ext uri="{FF2B5EF4-FFF2-40B4-BE49-F238E27FC236}">
                <a16:creationId xmlns:a16="http://schemas.microsoft.com/office/drawing/2014/main" id="{257BA655-66FF-6E0D-A799-1502DE2731F4}"/>
              </a:ext>
            </a:extLst>
          </p:cNvPr>
          <p:cNvSpPr>
            <a:spLocks noGrp="1"/>
          </p:cNvSpPr>
          <p:nvPr>
            <p:ph idx="1"/>
          </p:nvPr>
        </p:nvSpPr>
        <p:spPr>
          <a:xfrm>
            <a:off x="914399" y="1339971"/>
            <a:ext cx="10363200" cy="4922284"/>
          </a:xfrm>
        </p:spPr>
        <p:txBody>
          <a:bodyPr>
            <a:normAutofit/>
          </a:bodyPr>
          <a:lstStyle/>
          <a:p>
            <a:r>
              <a:rPr lang="en-IN" sz="1800" b="1" dirty="0">
                <a:solidFill>
                  <a:srgbClr val="FFFF00"/>
                </a:solidFill>
                <a:effectLst/>
              </a:rPr>
              <a:t>Title: A combinational incremental ensemble of </a:t>
            </a:r>
            <a:r>
              <a:rPr lang="en-IN" sz="1800" b="1" dirty="0" err="1">
                <a:solidFill>
                  <a:srgbClr val="FFFF00"/>
                </a:solidFill>
                <a:effectLst/>
              </a:rPr>
              <a:t>classi</a:t>
            </a:r>
            <a:r>
              <a:rPr lang="en-IN" sz="1800" b="1" dirty="0">
                <a:solidFill>
                  <a:srgbClr val="FFFF00"/>
                </a:solidFill>
                <a:effectLst/>
              </a:rPr>
              <a:t> </a:t>
            </a:r>
            <a:r>
              <a:rPr lang="en-IN" sz="1800" b="1" dirty="0" err="1">
                <a:solidFill>
                  <a:srgbClr val="FFFF00"/>
                </a:solidFill>
                <a:effectLst/>
              </a:rPr>
              <a:t>fiers</a:t>
            </a:r>
            <a:r>
              <a:rPr lang="en-IN" sz="1800" b="1" dirty="0">
                <a:solidFill>
                  <a:srgbClr val="FFFF00"/>
                </a:solidFill>
                <a:effectLst/>
              </a:rPr>
              <a:t> as a technique for predicting students’ performance in distance education </a:t>
            </a:r>
            <a:r>
              <a:rPr lang="en-IN" dirty="0">
                <a:solidFill>
                  <a:srgbClr val="FFFF00"/>
                </a:solidFill>
              </a:rPr>
              <a:t> </a:t>
            </a:r>
            <a:r>
              <a:rPr lang="en-IN" sz="1800" b="1" dirty="0">
                <a:solidFill>
                  <a:srgbClr val="FFFF00"/>
                </a:solidFill>
                <a:effectLst/>
              </a:rPr>
              <a:t>Author :</a:t>
            </a:r>
            <a:r>
              <a:rPr lang="en-IN" sz="1800" b="1" dirty="0">
                <a:solidFill>
                  <a:schemeClr val="bg1"/>
                </a:solidFill>
                <a:effectLst/>
              </a:rPr>
              <a:t> </a:t>
            </a:r>
            <a:r>
              <a:rPr lang="en-IN" sz="1800" dirty="0">
                <a:solidFill>
                  <a:schemeClr val="bg1"/>
                </a:solidFill>
                <a:effectLst/>
              </a:rPr>
              <a:t>S. </a:t>
            </a:r>
            <a:r>
              <a:rPr lang="en-IN" sz="1800" dirty="0" err="1">
                <a:solidFill>
                  <a:schemeClr val="bg1"/>
                </a:solidFill>
                <a:effectLst/>
              </a:rPr>
              <a:t>Kotsiantis</a:t>
            </a:r>
            <a:r>
              <a:rPr lang="en-IN" sz="1800" dirty="0">
                <a:solidFill>
                  <a:schemeClr val="bg1"/>
                </a:solidFill>
                <a:effectLst/>
              </a:rPr>
              <a:t>, K. </a:t>
            </a:r>
            <a:r>
              <a:rPr lang="en-IN" sz="1800" dirty="0" err="1">
                <a:solidFill>
                  <a:schemeClr val="bg1"/>
                </a:solidFill>
                <a:effectLst/>
              </a:rPr>
              <a:t>Patriarcheas</a:t>
            </a:r>
            <a:r>
              <a:rPr lang="en-IN" sz="1800" dirty="0">
                <a:solidFill>
                  <a:schemeClr val="bg1"/>
                </a:solidFill>
                <a:effectLst/>
              </a:rPr>
              <a:t> </a:t>
            </a:r>
            <a:r>
              <a:rPr lang="en-IN" sz="1800" b="1" dirty="0">
                <a:solidFill>
                  <a:schemeClr val="bg1"/>
                </a:solidFill>
                <a:effectLst/>
              </a:rPr>
              <a:t>Year: 2019 </a:t>
            </a:r>
          </a:p>
          <a:p>
            <a:pPr lvl="1"/>
            <a:r>
              <a:rPr lang="en-IN" dirty="0">
                <a:solidFill>
                  <a:schemeClr val="bg1"/>
                </a:solidFill>
              </a:rPr>
              <a:t>Predicting student performance in online learning is essential. This study recommends an online ensemble of classifiers, including Naive Bayes, 1-NN, and WINNOW algorithms, to enhance accuracy. The proposed approach is suitable for a support tool. Keywords: online learning, machine learning, ensemble classifiers, Naive Bayes, 1-NN, WINNOW, support tool.</a:t>
            </a:r>
            <a:endParaRPr lang="en-IN" b="1" dirty="0">
              <a:solidFill>
                <a:schemeClr val="bg1"/>
              </a:solidFill>
            </a:endParaRPr>
          </a:p>
          <a:p>
            <a:pPr lvl="1"/>
            <a:endParaRPr lang="en-IN" b="1" dirty="0">
              <a:solidFill>
                <a:schemeClr val="bg1"/>
              </a:solidFill>
            </a:endParaRPr>
          </a:p>
          <a:p>
            <a:pPr marL="265176" lvl="1" indent="0">
              <a:buNone/>
            </a:pPr>
            <a:r>
              <a:rPr lang="en-IN" sz="1800" b="1" dirty="0">
                <a:solidFill>
                  <a:srgbClr val="FFFF00"/>
                </a:solidFill>
                <a:effectLst/>
              </a:rPr>
              <a:t>Title: Drop Out Feature of Student Data for Academic Performance Using Decision Tree Techniques Author: </a:t>
            </a:r>
            <a:r>
              <a:rPr lang="en-IN" sz="1800" dirty="0">
                <a:solidFill>
                  <a:schemeClr val="bg1"/>
                </a:solidFill>
                <a:effectLst/>
              </a:rPr>
              <a:t>Mr. M. N. Quadri1 </a:t>
            </a:r>
            <a:r>
              <a:rPr lang="en-IN" sz="1800" b="1" dirty="0">
                <a:solidFill>
                  <a:schemeClr val="bg1"/>
                </a:solidFill>
                <a:effectLst/>
              </a:rPr>
              <a:t>Year: 2019 </a:t>
            </a:r>
          </a:p>
          <a:p>
            <a:pPr lvl="1"/>
            <a:r>
              <a:rPr lang="en-IN" b="1" dirty="0">
                <a:solidFill>
                  <a:schemeClr val="bg1"/>
                </a:solidFill>
              </a:rPr>
              <a:t>	This study focuses on using data mining to predict students who might drop out from college. They use a decision tree technique to make these predictions based on students' academic performance (measured by CGPA). These predictions are then used for intervention by teachers and management to help at-risk students.</a:t>
            </a:r>
            <a:endParaRPr lang="en-IN" sz="1800" b="1" dirty="0">
              <a:solidFill>
                <a:schemeClr val="bg1"/>
              </a:solidFill>
              <a:effectLst/>
            </a:endParaRPr>
          </a:p>
          <a:p>
            <a:pPr marL="265176" lvl="1" indent="0">
              <a:buNone/>
            </a:pPr>
            <a:endParaRPr lang="en-IN" dirty="0">
              <a:solidFill>
                <a:schemeClr val="bg1"/>
              </a:solidFill>
            </a:endParaRPr>
          </a:p>
          <a:p>
            <a:pPr marL="265176" lvl="1" indent="0">
              <a:buNone/>
            </a:pPr>
            <a:endParaRPr lang="en-IN" dirty="0">
              <a:solidFill>
                <a:schemeClr val="bg1"/>
              </a:solidFill>
            </a:endParaRPr>
          </a:p>
          <a:p>
            <a:pPr marL="0" indent="0">
              <a:buNone/>
            </a:pPr>
            <a:endParaRPr lang="en-US" dirty="0"/>
          </a:p>
        </p:txBody>
      </p:sp>
    </p:spTree>
    <p:extLst>
      <p:ext uri="{BB962C8B-B14F-4D97-AF65-F5344CB8AC3E}">
        <p14:creationId xmlns:p14="http://schemas.microsoft.com/office/powerpoint/2010/main" val="228596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5E6FD-2CFA-F672-3C53-442FB4A8619C}"/>
              </a:ext>
            </a:extLst>
          </p:cNvPr>
          <p:cNvSpPr>
            <a:spLocks noGrp="1"/>
          </p:cNvSpPr>
          <p:nvPr>
            <p:ph type="title"/>
          </p:nvPr>
        </p:nvSpPr>
        <p:spPr>
          <a:xfrm>
            <a:off x="914399" y="211550"/>
            <a:ext cx="10363200" cy="1187570"/>
          </a:xfrm>
        </p:spPr>
        <p:txBody>
          <a:bodyPr/>
          <a:lstStyle/>
          <a:p>
            <a:r>
              <a:rPr lang="en-US" dirty="0">
                <a:solidFill>
                  <a:schemeClr val="bg1"/>
                </a:solidFill>
              </a:rPr>
              <a:t>Objective</a:t>
            </a:r>
          </a:p>
        </p:txBody>
      </p:sp>
      <p:sp>
        <p:nvSpPr>
          <p:cNvPr id="3" name="Content Placeholder 2">
            <a:extLst>
              <a:ext uri="{FF2B5EF4-FFF2-40B4-BE49-F238E27FC236}">
                <a16:creationId xmlns:a16="http://schemas.microsoft.com/office/drawing/2014/main" id="{DE95EC41-9A05-BA6E-8E8D-8D0BE0673A62}"/>
              </a:ext>
            </a:extLst>
          </p:cNvPr>
          <p:cNvSpPr>
            <a:spLocks noGrp="1"/>
          </p:cNvSpPr>
          <p:nvPr>
            <p:ph idx="1"/>
          </p:nvPr>
        </p:nvSpPr>
        <p:spPr>
          <a:xfrm>
            <a:off x="914399" y="985560"/>
            <a:ext cx="10363200" cy="5455149"/>
          </a:xfrm>
        </p:spPr>
        <p:txBody>
          <a:bodyPr>
            <a:noAutofit/>
          </a:bodyPr>
          <a:lstStyle/>
          <a:p>
            <a:r>
              <a:rPr lang="en-IN" sz="2200" dirty="0">
                <a:solidFill>
                  <a:schemeClr val="bg1"/>
                </a:solidFill>
                <a:effectLst/>
                <a:latin typeface="AvenirNextLTPro"/>
              </a:rPr>
              <a:t>The project could involve collecting and </a:t>
            </a:r>
            <a:r>
              <a:rPr lang="en-IN" sz="2200" dirty="0" err="1">
                <a:solidFill>
                  <a:schemeClr val="bg1"/>
                </a:solidFill>
                <a:effectLst/>
                <a:latin typeface="AvenirNextLTPro"/>
              </a:rPr>
              <a:t>analyzing</a:t>
            </a:r>
            <a:r>
              <a:rPr lang="en-IN" sz="2200" dirty="0">
                <a:solidFill>
                  <a:schemeClr val="bg1"/>
                </a:solidFill>
                <a:effectLst/>
                <a:latin typeface="AvenirNextLTPro"/>
              </a:rPr>
              <a:t> relevant data using statistical methods, developing and testing predictive algorithms, and creating personalized learning plans and interventions based on the insights gained from the predictive model. </a:t>
            </a:r>
          </a:p>
          <a:p>
            <a:r>
              <a:rPr lang="en-IN" sz="2200" dirty="0">
                <a:solidFill>
                  <a:schemeClr val="bg1"/>
                </a:solidFill>
                <a:effectLst/>
                <a:latin typeface="TimesNewRomanPSMT"/>
              </a:rPr>
              <a:t>When there are a large number of attributes, some of them may not be meaningful for classification and it is likely that some of the attributes may be correlated.</a:t>
            </a:r>
          </a:p>
          <a:p>
            <a:r>
              <a:rPr lang="en-IN" sz="2200" dirty="0">
                <a:solidFill>
                  <a:schemeClr val="bg1"/>
                </a:solidFill>
                <a:effectLst/>
                <a:latin typeface="TimesNewRomanPSMT"/>
              </a:rPr>
              <a:t>The number of student dropout from the educational institute is increasing day by day. </a:t>
            </a:r>
          </a:p>
          <a:p>
            <a:r>
              <a:rPr lang="en-IN" sz="2200" dirty="0">
                <a:solidFill>
                  <a:schemeClr val="bg1"/>
                </a:solidFill>
                <a:latin typeface="TimesNewRomanPSMT"/>
              </a:rPr>
              <a:t>This is an educational data set which is collected from learning management system (LMS) called </a:t>
            </a:r>
            <a:r>
              <a:rPr lang="en-IN" sz="2200" dirty="0" err="1">
                <a:solidFill>
                  <a:schemeClr val="bg1"/>
                </a:solidFill>
                <a:latin typeface="TimesNewRomanPSMT"/>
              </a:rPr>
              <a:t>Kalboard</a:t>
            </a:r>
            <a:r>
              <a:rPr lang="en-IN" sz="2200" dirty="0">
                <a:solidFill>
                  <a:schemeClr val="bg1"/>
                </a:solidFill>
                <a:latin typeface="TimesNewRomanPSMT"/>
              </a:rPr>
              <a:t> 360. </a:t>
            </a:r>
            <a:r>
              <a:rPr lang="en-IN" sz="2200" dirty="0" err="1">
                <a:solidFill>
                  <a:schemeClr val="bg1"/>
                </a:solidFill>
                <a:latin typeface="TimesNewRomanPSMT"/>
              </a:rPr>
              <a:t>Kalboard</a:t>
            </a:r>
            <a:r>
              <a:rPr lang="en-IN" sz="2200" dirty="0">
                <a:solidFill>
                  <a:schemeClr val="bg1"/>
                </a:solidFill>
                <a:latin typeface="TimesNewRomanPSMT"/>
              </a:rPr>
              <a:t> 360 is a multi-agent LMS, which has been designed to facilitate learning through the use of leading-edge technology. </a:t>
            </a:r>
          </a:p>
        </p:txBody>
      </p:sp>
    </p:spTree>
    <p:extLst>
      <p:ext uri="{BB962C8B-B14F-4D97-AF65-F5344CB8AC3E}">
        <p14:creationId xmlns:p14="http://schemas.microsoft.com/office/powerpoint/2010/main" val="3046268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46EC-B69D-0B91-3AA2-3CE9D94DD238}"/>
              </a:ext>
            </a:extLst>
          </p:cNvPr>
          <p:cNvSpPr>
            <a:spLocks noGrp="1"/>
          </p:cNvSpPr>
          <p:nvPr>
            <p:ph type="title"/>
          </p:nvPr>
        </p:nvSpPr>
        <p:spPr>
          <a:xfrm>
            <a:off x="914399" y="322386"/>
            <a:ext cx="10363200" cy="1187570"/>
          </a:xfrm>
        </p:spPr>
        <p:txBody>
          <a:bodyPr/>
          <a:lstStyle/>
          <a:p>
            <a:r>
              <a:rPr lang="en-US" dirty="0">
                <a:solidFill>
                  <a:schemeClr val="bg1"/>
                </a:solidFill>
              </a:rPr>
              <a:t>Methodology</a:t>
            </a:r>
          </a:p>
        </p:txBody>
      </p:sp>
      <p:sp>
        <p:nvSpPr>
          <p:cNvPr id="3" name="Content Placeholder 2">
            <a:extLst>
              <a:ext uri="{FF2B5EF4-FFF2-40B4-BE49-F238E27FC236}">
                <a16:creationId xmlns:a16="http://schemas.microsoft.com/office/drawing/2014/main" id="{8616BFDD-3706-9B37-34C0-B50D4316DD7D}"/>
              </a:ext>
            </a:extLst>
          </p:cNvPr>
          <p:cNvSpPr>
            <a:spLocks noGrp="1"/>
          </p:cNvSpPr>
          <p:nvPr>
            <p:ph idx="1"/>
          </p:nvPr>
        </p:nvSpPr>
        <p:spPr>
          <a:xfrm>
            <a:off x="914399" y="1128421"/>
            <a:ext cx="10363200" cy="5407193"/>
          </a:xfrm>
        </p:spPr>
        <p:txBody>
          <a:bodyPr>
            <a:noAutofit/>
          </a:bodyPr>
          <a:lstStyle/>
          <a:p>
            <a:pPr algn="just"/>
            <a:r>
              <a:rPr lang="en-US" sz="1800" b="1" dirty="0">
                <a:solidFill>
                  <a:srgbClr val="FFFF00"/>
                </a:solidFill>
              </a:rPr>
              <a:t>Data Collection and Preprocessing</a:t>
            </a:r>
            <a:endParaRPr lang="en-US" sz="1800" dirty="0">
              <a:solidFill>
                <a:schemeClr val="bg1"/>
              </a:solidFill>
            </a:endParaRPr>
          </a:p>
          <a:p>
            <a:pPr algn="just"/>
            <a:r>
              <a:rPr lang="en-IN" sz="1800" dirty="0">
                <a:solidFill>
                  <a:schemeClr val="bg1"/>
                </a:solidFill>
              </a:rPr>
              <a:t>Gather diverse educational data encompassing student grades, demographics, and academic performance records.</a:t>
            </a:r>
          </a:p>
          <a:p>
            <a:pPr algn="just"/>
            <a:r>
              <a:rPr lang="en-IN" sz="1800" dirty="0">
                <a:solidFill>
                  <a:schemeClr val="bg1"/>
                </a:solidFill>
              </a:rPr>
              <a:t>Perform data </a:t>
            </a:r>
            <a:r>
              <a:rPr lang="en-IN" sz="1800" dirty="0" err="1">
                <a:solidFill>
                  <a:schemeClr val="bg1"/>
                </a:solidFill>
              </a:rPr>
              <a:t>preprocessing</a:t>
            </a:r>
            <a:r>
              <a:rPr lang="en-IN" sz="1800" dirty="0">
                <a:solidFill>
                  <a:schemeClr val="bg1"/>
                </a:solidFill>
              </a:rPr>
              <a:t> by eliminating duplicates, handling missing values, and converting categorical attributes into numerical formats.</a:t>
            </a:r>
          </a:p>
          <a:p>
            <a:pPr algn="just"/>
            <a:r>
              <a:rPr lang="en-IN" sz="1800" b="1" dirty="0">
                <a:solidFill>
                  <a:srgbClr val="FFFF00"/>
                </a:solidFill>
              </a:rPr>
              <a:t>Feature Selection and Transformation:</a:t>
            </a:r>
          </a:p>
          <a:p>
            <a:pPr algn="l">
              <a:buFont typeface="Arial" panose="020B0604020202020204" pitchFamily="34" charset="0"/>
              <a:buChar char="•"/>
            </a:pPr>
            <a:r>
              <a:rPr lang="en-IN" sz="1800" dirty="0">
                <a:solidFill>
                  <a:schemeClr val="bg1"/>
                </a:solidFill>
              </a:rPr>
              <a:t>Employ techniques like Recursive Feature Elimination with Cross-Validation (RFECV) to identify influential features.</a:t>
            </a:r>
          </a:p>
          <a:p>
            <a:pPr algn="l">
              <a:buFont typeface="Arial" panose="020B0604020202020204" pitchFamily="34" charset="0"/>
              <a:buChar char="•"/>
            </a:pPr>
            <a:r>
              <a:rPr lang="en-IN" sz="1800" dirty="0">
                <a:solidFill>
                  <a:schemeClr val="bg1"/>
                </a:solidFill>
              </a:rPr>
              <a:t>Normalize and scale selected features to ensure uniformity for machine learning model integration.</a:t>
            </a:r>
          </a:p>
          <a:p>
            <a:pPr marL="0" indent="0" algn="just">
              <a:buNone/>
            </a:pPr>
            <a:endParaRPr lang="en-IN" sz="1800" b="1" dirty="0">
              <a:solidFill>
                <a:srgbClr val="FFFF00"/>
              </a:solidFill>
            </a:endParaRPr>
          </a:p>
        </p:txBody>
      </p:sp>
    </p:spTree>
    <p:extLst>
      <p:ext uri="{BB962C8B-B14F-4D97-AF65-F5344CB8AC3E}">
        <p14:creationId xmlns:p14="http://schemas.microsoft.com/office/powerpoint/2010/main" val="218572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46EC-B69D-0B91-3AA2-3CE9D94DD238}"/>
              </a:ext>
            </a:extLst>
          </p:cNvPr>
          <p:cNvSpPr>
            <a:spLocks noGrp="1"/>
          </p:cNvSpPr>
          <p:nvPr>
            <p:ph type="title"/>
          </p:nvPr>
        </p:nvSpPr>
        <p:spPr>
          <a:xfrm>
            <a:off x="914399" y="322386"/>
            <a:ext cx="10363200" cy="1187570"/>
          </a:xfrm>
        </p:spPr>
        <p:txBody>
          <a:bodyPr/>
          <a:lstStyle/>
          <a:p>
            <a:r>
              <a:rPr lang="en-US" dirty="0">
                <a:solidFill>
                  <a:schemeClr val="bg1"/>
                </a:solidFill>
              </a:rPr>
              <a:t>Methodology</a:t>
            </a:r>
          </a:p>
        </p:txBody>
      </p:sp>
      <p:sp>
        <p:nvSpPr>
          <p:cNvPr id="3" name="Content Placeholder 2">
            <a:extLst>
              <a:ext uri="{FF2B5EF4-FFF2-40B4-BE49-F238E27FC236}">
                <a16:creationId xmlns:a16="http://schemas.microsoft.com/office/drawing/2014/main" id="{8616BFDD-3706-9B37-34C0-B50D4316DD7D}"/>
              </a:ext>
            </a:extLst>
          </p:cNvPr>
          <p:cNvSpPr>
            <a:spLocks noGrp="1"/>
          </p:cNvSpPr>
          <p:nvPr>
            <p:ph idx="1"/>
          </p:nvPr>
        </p:nvSpPr>
        <p:spPr>
          <a:xfrm>
            <a:off x="914399" y="1128421"/>
            <a:ext cx="10363200" cy="5407193"/>
          </a:xfrm>
        </p:spPr>
        <p:txBody>
          <a:bodyPr>
            <a:noAutofit/>
          </a:bodyPr>
          <a:lstStyle/>
          <a:p>
            <a:pPr algn="just"/>
            <a:r>
              <a:rPr lang="en-IN" sz="1800" b="1" dirty="0">
                <a:solidFill>
                  <a:srgbClr val="FFFF00"/>
                </a:solidFill>
              </a:rPr>
              <a:t>Model Selection and Training:</a:t>
            </a:r>
          </a:p>
          <a:p>
            <a:pPr algn="l">
              <a:buFont typeface="Arial" panose="020B0604020202020204" pitchFamily="34" charset="0"/>
              <a:buChar char="•"/>
            </a:pPr>
            <a:r>
              <a:rPr lang="en-IN" sz="1800" dirty="0">
                <a:solidFill>
                  <a:schemeClr val="bg1"/>
                </a:solidFill>
              </a:rPr>
              <a:t>Utilize various machine learning algorithms like Logistic Regression, Random Forest Classifier, Gaussian Naive Bayes, SVM, KNN, and </a:t>
            </a:r>
            <a:r>
              <a:rPr lang="en-IN" sz="1800" dirty="0" err="1">
                <a:solidFill>
                  <a:schemeClr val="bg1"/>
                </a:solidFill>
              </a:rPr>
              <a:t>XGBoost</a:t>
            </a:r>
            <a:r>
              <a:rPr lang="en-IN" sz="1800" dirty="0">
                <a:solidFill>
                  <a:schemeClr val="bg1"/>
                </a:solidFill>
              </a:rPr>
              <a:t>.</a:t>
            </a:r>
          </a:p>
          <a:p>
            <a:pPr algn="l">
              <a:buFont typeface="Arial" panose="020B0604020202020204" pitchFamily="34" charset="0"/>
              <a:buChar char="•"/>
            </a:pPr>
            <a:r>
              <a:rPr lang="en-IN" sz="1800" dirty="0">
                <a:solidFill>
                  <a:schemeClr val="bg1"/>
                </a:solidFill>
              </a:rPr>
              <a:t>Assess each algorithm's performance and select the most suitable model (e.g., Random Forest Classifier) based on accuracy and efficiency.</a:t>
            </a:r>
          </a:p>
          <a:p>
            <a:pPr marL="0" indent="0" algn="just">
              <a:buNone/>
            </a:pPr>
            <a:endParaRPr lang="en-IN" sz="1800" b="1" dirty="0">
              <a:solidFill>
                <a:srgbClr val="FFFF00"/>
              </a:solidFill>
            </a:endParaRPr>
          </a:p>
        </p:txBody>
      </p:sp>
      <p:pic>
        <p:nvPicPr>
          <p:cNvPr id="4" name="Picture 3" descr="A graph of different colored squares&#10;&#10;Description automatically generated">
            <a:extLst>
              <a:ext uri="{FF2B5EF4-FFF2-40B4-BE49-F238E27FC236}">
                <a16:creationId xmlns:a16="http://schemas.microsoft.com/office/drawing/2014/main" id="{68413533-DC1F-8B6B-E2BD-9B0FDEE0F2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76055" y="3249238"/>
            <a:ext cx="7715765" cy="3380162"/>
          </a:xfrm>
          <a:prstGeom prst="rect">
            <a:avLst/>
          </a:prstGeom>
        </p:spPr>
      </p:pic>
    </p:spTree>
    <p:extLst>
      <p:ext uri="{BB962C8B-B14F-4D97-AF65-F5344CB8AC3E}">
        <p14:creationId xmlns:p14="http://schemas.microsoft.com/office/powerpoint/2010/main" val="67504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46EC-B69D-0B91-3AA2-3CE9D94DD238}"/>
              </a:ext>
            </a:extLst>
          </p:cNvPr>
          <p:cNvSpPr>
            <a:spLocks noGrp="1"/>
          </p:cNvSpPr>
          <p:nvPr>
            <p:ph type="title"/>
          </p:nvPr>
        </p:nvSpPr>
        <p:spPr>
          <a:xfrm>
            <a:off x="914399" y="322386"/>
            <a:ext cx="10363200" cy="1187570"/>
          </a:xfrm>
        </p:spPr>
        <p:txBody>
          <a:bodyPr/>
          <a:lstStyle/>
          <a:p>
            <a:r>
              <a:rPr lang="en-US" dirty="0">
                <a:solidFill>
                  <a:schemeClr val="bg1"/>
                </a:solidFill>
              </a:rPr>
              <a:t>Methodology</a:t>
            </a:r>
          </a:p>
        </p:txBody>
      </p:sp>
      <p:sp>
        <p:nvSpPr>
          <p:cNvPr id="3" name="Content Placeholder 2">
            <a:extLst>
              <a:ext uri="{FF2B5EF4-FFF2-40B4-BE49-F238E27FC236}">
                <a16:creationId xmlns:a16="http://schemas.microsoft.com/office/drawing/2014/main" id="{8616BFDD-3706-9B37-34C0-B50D4316DD7D}"/>
              </a:ext>
            </a:extLst>
          </p:cNvPr>
          <p:cNvSpPr>
            <a:spLocks noGrp="1"/>
          </p:cNvSpPr>
          <p:nvPr>
            <p:ph idx="1"/>
          </p:nvPr>
        </p:nvSpPr>
        <p:spPr>
          <a:xfrm>
            <a:off x="914399" y="1128421"/>
            <a:ext cx="10363200" cy="5407193"/>
          </a:xfrm>
        </p:spPr>
        <p:txBody>
          <a:bodyPr>
            <a:noAutofit/>
          </a:bodyPr>
          <a:lstStyle/>
          <a:p>
            <a:pPr marL="0" indent="0" algn="just">
              <a:buNone/>
            </a:pPr>
            <a:r>
              <a:rPr lang="en-IN" sz="2800" b="1" dirty="0">
                <a:solidFill>
                  <a:srgbClr val="FFFF00"/>
                </a:solidFill>
              </a:rPr>
              <a:t>Random Forest</a:t>
            </a:r>
          </a:p>
          <a:p>
            <a:pPr marL="0" indent="0" algn="just">
              <a:buNone/>
            </a:pPr>
            <a:r>
              <a:rPr lang="en-IN" sz="2400" dirty="0">
                <a:solidFill>
                  <a:schemeClr val="bg1"/>
                </a:solidFill>
                <a:latin typeface="AvenirNextLTPro"/>
              </a:rPr>
              <a:t>	Random forest is a commonly-used machine learning algorithm which combines the output of multiple decision trees to reach a single result. Its ease of use and flexibility have </a:t>
            </a:r>
            <a:r>
              <a:rPr lang="en-IN" sz="2400" dirty="0" err="1">
                <a:solidFill>
                  <a:schemeClr val="bg1"/>
                </a:solidFill>
                <a:latin typeface="AvenirNextLTPro"/>
              </a:rPr>
              <a:t>fueled</a:t>
            </a:r>
            <a:r>
              <a:rPr lang="en-IN" sz="2400" dirty="0">
                <a:solidFill>
                  <a:schemeClr val="bg1"/>
                </a:solidFill>
                <a:latin typeface="AvenirNextLTPro"/>
              </a:rPr>
              <a:t> its adoption, as it handles both classification and regression problems.</a:t>
            </a:r>
            <a:r>
              <a:rPr lang="en-IN" sz="2000" b="0" i="0" dirty="0">
                <a:solidFill>
                  <a:srgbClr val="0F0F0F"/>
                </a:solidFill>
                <a:effectLst/>
                <a:latin typeface="Söhne"/>
              </a:rPr>
              <a:t> </a:t>
            </a:r>
          </a:p>
          <a:p>
            <a:pPr marL="0" indent="0" algn="just">
              <a:buNone/>
            </a:pPr>
            <a:r>
              <a:rPr lang="en-IN" sz="2400" dirty="0">
                <a:solidFill>
                  <a:schemeClr val="bg1"/>
                </a:solidFill>
                <a:latin typeface="AvenirNextLTPro"/>
              </a:rPr>
              <a:t>	This randomness helps in creating diverse trees, reducing overfitting and improving generalization. </a:t>
            </a:r>
          </a:p>
          <a:p>
            <a:pPr marL="0" indent="0" algn="just">
              <a:buNone/>
            </a:pPr>
            <a:r>
              <a:rPr lang="en-IN" sz="2400" dirty="0">
                <a:solidFill>
                  <a:schemeClr val="bg1"/>
                </a:solidFill>
                <a:latin typeface="AvenirNextLTPro"/>
              </a:rPr>
              <a:t>	It's known for its robustness, ability to handle large datasets with high dimensionality, and resistance to overfitting compared to individual decision trees.</a:t>
            </a:r>
          </a:p>
          <a:p>
            <a:pPr marL="0" indent="0" algn="just">
              <a:buNone/>
            </a:pPr>
            <a:endParaRPr lang="en-IN" sz="1600" dirty="0">
              <a:effectLst/>
              <a:latin typeface="Helvetica Neue" panose="02000503000000020004" pitchFamily="2" charset="0"/>
            </a:endParaRPr>
          </a:p>
        </p:txBody>
      </p:sp>
    </p:spTree>
    <p:extLst>
      <p:ext uri="{BB962C8B-B14F-4D97-AF65-F5344CB8AC3E}">
        <p14:creationId xmlns:p14="http://schemas.microsoft.com/office/powerpoint/2010/main" val="366051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46EC-B69D-0B91-3AA2-3CE9D94DD238}"/>
              </a:ext>
            </a:extLst>
          </p:cNvPr>
          <p:cNvSpPr>
            <a:spLocks noGrp="1"/>
          </p:cNvSpPr>
          <p:nvPr>
            <p:ph type="title"/>
          </p:nvPr>
        </p:nvSpPr>
        <p:spPr>
          <a:xfrm>
            <a:off x="914399" y="322386"/>
            <a:ext cx="10363200" cy="1187570"/>
          </a:xfrm>
        </p:spPr>
        <p:txBody>
          <a:bodyPr/>
          <a:lstStyle/>
          <a:p>
            <a:r>
              <a:rPr lang="en-US" dirty="0">
                <a:solidFill>
                  <a:schemeClr val="bg1"/>
                </a:solidFill>
              </a:rPr>
              <a:t>Results</a:t>
            </a:r>
          </a:p>
        </p:txBody>
      </p:sp>
      <p:sp>
        <p:nvSpPr>
          <p:cNvPr id="3" name="Content Placeholder 2">
            <a:extLst>
              <a:ext uri="{FF2B5EF4-FFF2-40B4-BE49-F238E27FC236}">
                <a16:creationId xmlns:a16="http://schemas.microsoft.com/office/drawing/2014/main" id="{8616BFDD-3706-9B37-34C0-B50D4316DD7D}"/>
              </a:ext>
            </a:extLst>
          </p:cNvPr>
          <p:cNvSpPr>
            <a:spLocks noGrp="1"/>
          </p:cNvSpPr>
          <p:nvPr>
            <p:ph idx="1"/>
          </p:nvPr>
        </p:nvSpPr>
        <p:spPr>
          <a:xfrm>
            <a:off x="914399" y="1128421"/>
            <a:ext cx="10363200" cy="5407193"/>
          </a:xfrm>
        </p:spPr>
        <p:txBody>
          <a:bodyPr>
            <a:noAutofit/>
          </a:bodyPr>
          <a:lstStyle/>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endParaRPr lang="en-IN" sz="1800" b="1" dirty="0">
              <a:solidFill>
                <a:srgbClr val="FFFF00"/>
              </a:solidFill>
            </a:endParaRPr>
          </a:p>
          <a:p>
            <a:pPr marL="0" indent="0" algn="just">
              <a:buNone/>
            </a:pPr>
            <a:r>
              <a:rPr lang="en-US" sz="1800" dirty="0">
                <a:solidFill>
                  <a:schemeClr val="bg1"/>
                </a:solidFill>
              </a:rPr>
              <a:t>	The model excels in differentiating Class 0 and Class 1 instances, but its performance is slightly less robust for Class 2.</a:t>
            </a:r>
            <a:r>
              <a:rPr lang="en-IN" sz="1800" dirty="0">
                <a:solidFill>
                  <a:schemeClr val="bg1"/>
                </a:solidFill>
              </a:rPr>
              <a:t> </a:t>
            </a:r>
          </a:p>
        </p:txBody>
      </p:sp>
      <p:pic>
        <p:nvPicPr>
          <p:cNvPr id="4" name="Picture 3">
            <a:extLst>
              <a:ext uri="{FF2B5EF4-FFF2-40B4-BE49-F238E27FC236}">
                <a16:creationId xmlns:a16="http://schemas.microsoft.com/office/drawing/2014/main" id="{B533490C-7553-F948-3931-357392B03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4670" y="1128422"/>
            <a:ext cx="5837104" cy="3906000"/>
          </a:xfrm>
          <a:prstGeom prst="rect">
            <a:avLst/>
          </a:prstGeom>
        </p:spPr>
      </p:pic>
    </p:spTree>
    <p:extLst>
      <p:ext uri="{BB962C8B-B14F-4D97-AF65-F5344CB8AC3E}">
        <p14:creationId xmlns:p14="http://schemas.microsoft.com/office/powerpoint/2010/main" val="281514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A008-8661-2491-1A2F-189612071A6F}"/>
              </a:ext>
            </a:extLst>
          </p:cNvPr>
          <p:cNvSpPr>
            <a:spLocks noGrp="1"/>
          </p:cNvSpPr>
          <p:nvPr>
            <p:ph type="title"/>
          </p:nvPr>
        </p:nvSpPr>
        <p:spPr>
          <a:xfrm>
            <a:off x="914399" y="211550"/>
            <a:ext cx="10363200" cy="1187570"/>
          </a:xfrm>
        </p:spPr>
        <p:txBody>
          <a:bodyPr/>
          <a:lstStyle/>
          <a:p>
            <a:r>
              <a:rPr lang="en-US" dirty="0">
                <a:solidFill>
                  <a:schemeClr val="bg1"/>
                </a:solidFill>
              </a:rPr>
              <a:t>Results</a:t>
            </a:r>
          </a:p>
        </p:txBody>
      </p:sp>
      <p:sp>
        <p:nvSpPr>
          <p:cNvPr id="3" name="Content Placeholder 2">
            <a:extLst>
              <a:ext uri="{FF2B5EF4-FFF2-40B4-BE49-F238E27FC236}">
                <a16:creationId xmlns:a16="http://schemas.microsoft.com/office/drawing/2014/main" id="{00F7F654-4094-EA7B-D55F-5FF99684F82C}"/>
              </a:ext>
            </a:extLst>
          </p:cNvPr>
          <p:cNvSpPr>
            <a:spLocks noGrp="1"/>
          </p:cNvSpPr>
          <p:nvPr>
            <p:ph idx="1"/>
          </p:nvPr>
        </p:nvSpPr>
        <p:spPr>
          <a:xfrm>
            <a:off x="914399" y="1284552"/>
            <a:ext cx="10363200" cy="5157811"/>
          </a:xfrm>
        </p:spPr>
        <p:txBody>
          <a:bodyPr>
            <a:normAutofit fontScale="77500" lnSpcReduction="20000"/>
          </a:bodyPr>
          <a:lstStyle/>
          <a:p>
            <a:r>
              <a:rPr lang="en-IN" sz="2600" b="1" dirty="0">
                <a:solidFill>
                  <a:srgbClr val="FFFF00"/>
                </a:solidFill>
              </a:rPr>
              <a:t>For Low-Level Grades (0-69):</a:t>
            </a:r>
          </a:p>
          <a:p>
            <a:pPr marL="0" indent="0">
              <a:buNone/>
            </a:pPr>
            <a:r>
              <a:rPr lang="en-IN" dirty="0">
                <a:solidFill>
                  <a:schemeClr val="bg1"/>
                </a:solidFill>
              </a:rPr>
              <a:t>	</a:t>
            </a:r>
            <a:r>
              <a:rPr lang="en-IN" sz="2900" dirty="0">
                <a:solidFill>
                  <a:schemeClr val="bg1"/>
                </a:solidFill>
              </a:rPr>
              <a:t>1. Personalized Support: Implement individualized tutoring or mentoring sessions to address specific learning gaps.</a:t>
            </a:r>
          </a:p>
          <a:p>
            <a:pPr marL="0" indent="0">
              <a:buNone/>
            </a:pPr>
            <a:r>
              <a:rPr lang="en-IN" sz="2900" dirty="0">
                <a:solidFill>
                  <a:schemeClr val="bg1"/>
                </a:solidFill>
              </a:rPr>
              <a:t>	2. Targeted Interventions: Offer remedial classes focusing on fundamental concepts to strengthen foundational knowledge.</a:t>
            </a:r>
          </a:p>
          <a:p>
            <a:pPr marL="0" indent="0">
              <a:buNone/>
            </a:pPr>
            <a:r>
              <a:rPr lang="en-IN" sz="2900" dirty="0">
                <a:solidFill>
                  <a:schemeClr val="bg1"/>
                </a:solidFill>
              </a:rPr>
              <a:t>	3. Enhanced Feedback Mechanisms: Provide detailed feedback on assignments and assessments to identify weaknesses and offer guidance for improvement.</a:t>
            </a:r>
          </a:p>
          <a:p>
            <a:pPr marL="0" indent="0">
              <a:buNone/>
            </a:pPr>
            <a:r>
              <a:rPr lang="en-IN" sz="2900" dirty="0">
                <a:solidFill>
                  <a:schemeClr val="bg1"/>
                </a:solidFill>
              </a:rPr>
              <a:t>	4. Supportive Learning Environment: Foster a supportive classroom atmosphere encouraging questions and fostering confidence in struggling students.</a:t>
            </a:r>
          </a:p>
          <a:p>
            <a:pPr marL="0" indent="0">
              <a:buNone/>
            </a:pPr>
            <a:endParaRPr lang="en-IN" b="1" dirty="0">
              <a:solidFill>
                <a:srgbClr val="FFFF00"/>
              </a:solidFill>
              <a:effectLst/>
            </a:endParaRPr>
          </a:p>
          <a:p>
            <a:pPr marL="0" indent="0">
              <a:buNone/>
            </a:pPr>
            <a:r>
              <a:rPr lang="en-IN" b="1" dirty="0">
                <a:solidFill>
                  <a:schemeClr val="bg1"/>
                </a:solidFill>
              </a:rPr>
              <a:t>	</a:t>
            </a:r>
            <a:endParaRPr lang="en-IN" dirty="0">
              <a:solidFill>
                <a:schemeClr val="bg1"/>
              </a:solidFill>
            </a:endParaRPr>
          </a:p>
        </p:txBody>
      </p:sp>
    </p:spTree>
    <p:extLst>
      <p:ext uri="{BB962C8B-B14F-4D97-AF65-F5344CB8AC3E}">
        <p14:creationId xmlns:p14="http://schemas.microsoft.com/office/powerpoint/2010/main" val="149378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A008-8661-2491-1A2F-189612071A6F}"/>
              </a:ext>
            </a:extLst>
          </p:cNvPr>
          <p:cNvSpPr>
            <a:spLocks noGrp="1"/>
          </p:cNvSpPr>
          <p:nvPr>
            <p:ph type="title"/>
          </p:nvPr>
        </p:nvSpPr>
        <p:spPr>
          <a:xfrm>
            <a:off x="914399" y="211550"/>
            <a:ext cx="10363200" cy="1187570"/>
          </a:xfrm>
        </p:spPr>
        <p:txBody>
          <a:bodyPr/>
          <a:lstStyle/>
          <a:p>
            <a:r>
              <a:rPr lang="en-US" dirty="0">
                <a:solidFill>
                  <a:schemeClr val="bg1"/>
                </a:solidFill>
              </a:rPr>
              <a:t>Results</a:t>
            </a:r>
          </a:p>
        </p:txBody>
      </p:sp>
      <p:sp>
        <p:nvSpPr>
          <p:cNvPr id="3" name="Content Placeholder 2">
            <a:extLst>
              <a:ext uri="{FF2B5EF4-FFF2-40B4-BE49-F238E27FC236}">
                <a16:creationId xmlns:a16="http://schemas.microsoft.com/office/drawing/2014/main" id="{00F7F654-4094-EA7B-D55F-5FF99684F82C}"/>
              </a:ext>
            </a:extLst>
          </p:cNvPr>
          <p:cNvSpPr>
            <a:spLocks noGrp="1"/>
          </p:cNvSpPr>
          <p:nvPr>
            <p:ph idx="1"/>
          </p:nvPr>
        </p:nvSpPr>
        <p:spPr>
          <a:xfrm>
            <a:off x="914399" y="1284552"/>
            <a:ext cx="10363200" cy="5157811"/>
          </a:xfrm>
        </p:spPr>
        <p:txBody>
          <a:bodyPr>
            <a:normAutofit fontScale="92500" lnSpcReduction="10000"/>
          </a:bodyPr>
          <a:lstStyle/>
          <a:p>
            <a:r>
              <a:rPr lang="en-IN" sz="2600" b="1" dirty="0">
                <a:solidFill>
                  <a:srgbClr val="FFFF00"/>
                </a:solidFill>
              </a:rPr>
              <a:t>For Middle-Level Grades (70-89):</a:t>
            </a:r>
            <a:r>
              <a:rPr lang="en-IN" dirty="0">
                <a:solidFill>
                  <a:schemeClr val="bg1"/>
                </a:solidFill>
              </a:rPr>
              <a:t>	</a:t>
            </a:r>
          </a:p>
          <a:p>
            <a:pPr marL="0" indent="0">
              <a:lnSpc>
                <a:spcPct val="110000"/>
              </a:lnSpc>
              <a:buNone/>
            </a:pPr>
            <a:r>
              <a:rPr lang="en-IN" sz="2900" dirty="0">
                <a:solidFill>
                  <a:schemeClr val="bg1"/>
                </a:solidFill>
              </a:rPr>
              <a:t>	1. </a:t>
            </a:r>
            <a:r>
              <a:rPr lang="en-IN" sz="2600" dirty="0">
                <a:solidFill>
                  <a:schemeClr val="bg1"/>
                </a:solidFill>
              </a:rPr>
              <a:t>Enrichment Programs: Offer advanced coursework or extracurricular activities to challenge and engage students beyond the standard curriculum.</a:t>
            </a:r>
          </a:p>
          <a:p>
            <a:pPr marL="0" indent="0">
              <a:lnSpc>
                <a:spcPct val="110000"/>
              </a:lnSpc>
              <a:buNone/>
            </a:pPr>
            <a:r>
              <a:rPr lang="en-IN" sz="2600" dirty="0">
                <a:solidFill>
                  <a:schemeClr val="bg1"/>
                </a:solidFill>
              </a:rPr>
              <a:t>	2. Continuous Assessment: Implement regular assessments to monitor progress and identify areas needing improvement.</a:t>
            </a:r>
          </a:p>
          <a:p>
            <a:pPr marL="0" indent="0">
              <a:lnSpc>
                <a:spcPct val="110000"/>
              </a:lnSpc>
              <a:buNone/>
            </a:pPr>
            <a:r>
              <a:rPr lang="en-IN" sz="2600" dirty="0">
                <a:solidFill>
                  <a:schemeClr val="bg1"/>
                </a:solidFill>
              </a:rPr>
              <a:t>	3. Individual Goal Setting: Encourage students to set personal academic goals, providing motivation and direction for improvement.</a:t>
            </a:r>
          </a:p>
          <a:p>
            <a:pPr marL="0" indent="0">
              <a:lnSpc>
                <a:spcPct val="110000"/>
              </a:lnSpc>
              <a:buNone/>
            </a:pPr>
            <a:r>
              <a:rPr lang="en-IN" sz="2600" dirty="0">
                <a:solidFill>
                  <a:schemeClr val="bg1"/>
                </a:solidFill>
              </a:rPr>
              <a:t>	4. Peer Collaboration: Facilitate collaborative learning environments where students can work together, enhancing their understanding and skills.</a:t>
            </a:r>
          </a:p>
          <a:p>
            <a:pPr marL="0" indent="0">
              <a:lnSpc>
                <a:spcPct val="110000"/>
              </a:lnSpc>
              <a:buNone/>
            </a:pPr>
            <a:br>
              <a:rPr lang="en-IN" sz="2600" dirty="0">
                <a:solidFill>
                  <a:schemeClr val="bg1"/>
                </a:solidFill>
              </a:rPr>
            </a:br>
            <a:r>
              <a:rPr lang="en-IN" b="1" dirty="0">
                <a:solidFill>
                  <a:schemeClr val="bg1"/>
                </a:solidFill>
              </a:rPr>
              <a:t>	</a:t>
            </a:r>
            <a:endParaRPr lang="en-IN" dirty="0">
              <a:solidFill>
                <a:schemeClr val="bg1"/>
              </a:solidFill>
            </a:endParaRPr>
          </a:p>
        </p:txBody>
      </p:sp>
    </p:spTree>
    <p:extLst>
      <p:ext uri="{BB962C8B-B14F-4D97-AF65-F5344CB8AC3E}">
        <p14:creationId xmlns:p14="http://schemas.microsoft.com/office/powerpoint/2010/main" val="510418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A008-8661-2491-1A2F-189612071A6F}"/>
              </a:ext>
            </a:extLst>
          </p:cNvPr>
          <p:cNvSpPr>
            <a:spLocks noGrp="1"/>
          </p:cNvSpPr>
          <p:nvPr>
            <p:ph type="title"/>
          </p:nvPr>
        </p:nvSpPr>
        <p:spPr>
          <a:xfrm>
            <a:off x="914399" y="211550"/>
            <a:ext cx="10363200" cy="1187570"/>
          </a:xfrm>
        </p:spPr>
        <p:txBody>
          <a:bodyPr/>
          <a:lstStyle/>
          <a:p>
            <a:r>
              <a:rPr lang="en-US" dirty="0">
                <a:solidFill>
                  <a:schemeClr val="bg1"/>
                </a:solidFill>
              </a:rPr>
              <a:t>Results</a:t>
            </a:r>
          </a:p>
        </p:txBody>
      </p:sp>
      <p:sp>
        <p:nvSpPr>
          <p:cNvPr id="3" name="Content Placeholder 2">
            <a:extLst>
              <a:ext uri="{FF2B5EF4-FFF2-40B4-BE49-F238E27FC236}">
                <a16:creationId xmlns:a16="http://schemas.microsoft.com/office/drawing/2014/main" id="{00F7F654-4094-EA7B-D55F-5FF99684F82C}"/>
              </a:ext>
            </a:extLst>
          </p:cNvPr>
          <p:cNvSpPr>
            <a:spLocks noGrp="1"/>
          </p:cNvSpPr>
          <p:nvPr>
            <p:ph idx="1"/>
          </p:nvPr>
        </p:nvSpPr>
        <p:spPr>
          <a:xfrm>
            <a:off x="914399" y="1284552"/>
            <a:ext cx="10363200" cy="5157811"/>
          </a:xfrm>
        </p:spPr>
        <p:txBody>
          <a:bodyPr>
            <a:normAutofit lnSpcReduction="10000"/>
          </a:bodyPr>
          <a:lstStyle/>
          <a:p>
            <a:r>
              <a:rPr lang="en-IN" sz="2600" b="1" dirty="0">
                <a:solidFill>
                  <a:srgbClr val="FFFF00"/>
                </a:solidFill>
              </a:rPr>
              <a:t>For High-Level Grades (90-100):</a:t>
            </a:r>
            <a:r>
              <a:rPr lang="en-IN" dirty="0">
                <a:solidFill>
                  <a:schemeClr val="bg1"/>
                </a:solidFill>
              </a:rPr>
              <a:t>	</a:t>
            </a:r>
          </a:p>
          <a:p>
            <a:pPr marL="0" indent="0">
              <a:lnSpc>
                <a:spcPct val="100000"/>
              </a:lnSpc>
              <a:buNone/>
            </a:pPr>
            <a:r>
              <a:rPr lang="en-IN" sz="2200" dirty="0">
                <a:solidFill>
                  <a:schemeClr val="bg1"/>
                </a:solidFill>
              </a:rPr>
              <a:t>	1. Advanced Projects or Research: Provide opportunities for independent projects or research to stimulate intellectual curiosity and challenge high-performing students.</a:t>
            </a:r>
          </a:p>
          <a:p>
            <a:pPr marL="0" indent="0">
              <a:lnSpc>
                <a:spcPct val="100000"/>
              </a:lnSpc>
              <a:buNone/>
            </a:pPr>
            <a:r>
              <a:rPr lang="en-IN" sz="2200" dirty="0">
                <a:solidFill>
                  <a:schemeClr val="bg1"/>
                </a:solidFill>
              </a:rPr>
              <a:t>	2. Mentorship and Guidance: Connect high-achieving students with mentors or resources to explore their academic interests further.</a:t>
            </a:r>
          </a:p>
          <a:p>
            <a:pPr marL="0" indent="0">
              <a:lnSpc>
                <a:spcPct val="100000"/>
              </a:lnSpc>
              <a:buNone/>
            </a:pPr>
            <a:r>
              <a:rPr lang="en-IN" sz="2200" dirty="0">
                <a:solidFill>
                  <a:schemeClr val="bg1"/>
                </a:solidFill>
              </a:rPr>
              <a:t>	3. Differentiated Learning: Offer differentiated tasks or activities to prevent boredom and keep students engaged.</a:t>
            </a:r>
          </a:p>
          <a:p>
            <a:pPr marL="0" indent="0">
              <a:lnSpc>
                <a:spcPct val="100000"/>
              </a:lnSpc>
              <a:buNone/>
            </a:pPr>
            <a:r>
              <a:rPr lang="en-IN" sz="2200" dirty="0">
                <a:solidFill>
                  <a:schemeClr val="bg1"/>
                </a:solidFill>
              </a:rPr>
              <a:t>	4. Encourage Critical Thinking: Promote higher-order thinking skills through problem-solving activities and discussions to deepen understanding and application of knowledge.</a:t>
            </a:r>
          </a:p>
          <a:p>
            <a:pPr marL="0" indent="0">
              <a:lnSpc>
                <a:spcPct val="100000"/>
              </a:lnSpc>
              <a:buNone/>
            </a:pPr>
            <a:br>
              <a:rPr lang="en-IN" sz="2200" dirty="0">
                <a:solidFill>
                  <a:schemeClr val="bg1"/>
                </a:solidFill>
              </a:rPr>
            </a:br>
            <a:endParaRPr lang="en-IN" sz="2200" dirty="0">
              <a:solidFill>
                <a:schemeClr val="bg1"/>
              </a:solidFill>
            </a:endParaRPr>
          </a:p>
          <a:p>
            <a:pPr marL="0" indent="0">
              <a:buNone/>
            </a:pPr>
            <a:endParaRPr lang="en-IN" dirty="0">
              <a:solidFill>
                <a:schemeClr val="bg1"/>
              </a:solidFill>
            </a:endParaRPr>
          </a:p>
        </p:txBody>
      </p:sp>
    </p:spTree>
    <p:extLst>
      <p:ext uri="{BB962C8B-B14F-4D97-AF65-F5344CB8AC3E}">
        <p14:creationId xmlns:p14="http://schemas.microsoft.com/office/powerpoint/2010/main" val="3965969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A008-8661-2491-1A2F-189612071A6F}"/>
              </a:ext>
            </a:extLst>
          </p:cNvPr>
          <p:cNvSpPr>
            <a:spLocks noGrp="1"/>
          </p:cNvSpPr>
          <p:nvPr>
            <p:ph type="title"/>
          </p:nvPr>
        </p:nvSpPr>
        <p:spPr>
          <a:xfrm>
            <a:off x="914399" y="211550"/>
            <a:ext cx="10363200" cy="1187570"/>
          </a:xfrm>
        </p:spPr>
        <p:txBody>
          <a:bodyPr/>
          <a:lstStyle/>
          <a:p>
            <a:r>
              <a:rPr lang="en-US" dirty="0">
                <a:solidFill>
                  <a:schemeClr val="bg1"/>
                </a:solidFill>
              </a:rPr>
              <a:t>Future Scope</a:t>
            </a:r>
          </a:p>
        </p:txBody>
      </p:sp>
      <p:sp>
        <p:nvSpPr>
          <p:cNvPr id="3" name="Content Placeholder 2">
            <a:extLst>
              <a:ext uri="{FF2B5EF4-FFF2-40B4-BE49-F238E27FC236}">
                <a16:creationId xmlns:a16="http://schemas.microsoft.com/office/drawing/2014/main" id="{00F7F654-4094-EA7B-D55F-5FF99684F82C}"/>
              </a:ext>
            </a:extLst>
          </p:cNvPr>
          <p:cNvSpPr>
            <a:spLocks noGrp="1"/>
          </p:cNvSpPr>
          <p:nvPr>
            <p:ph idx="1"/>
          </p:nvPr>
        </p:nvSpPr>
        <p:spPr>
          <a:xfrm>
            <a:off x="914399" y="1284552"/>
            <a:ext cx="10363200" cy="5157811"/>
          </a:xfrm>
        </p:spPr>
        <p:txBody>
          <a:bodyPr>
            <a:normAutofit/>
          </a:bodyPr>
          <a:lstStyle/>
          <a:p>
            <a:pPr marL="0" indent="0" algn="just">
              <a:buNone/>
            </a:pPr>
            <a:r>
              <a:rPr lang="en-IN" sz="2400" dirty="0">
                <a:solidFill>
                  <a:srgbClr val="FFFF00"/>
                </a:solidFill>
                <a:latin typeface="AvenirNextLTPro"/>
              </a:rPr>
              <a:t>Real-time Implementation: </a:t>
            </a:r>
            <a:r>
              <a:rPr lang="en-IN" sz="2400" dirty="0">
                <a:solidFill>
                  <a:schemeClr val="bg1"/>
                </a:solidFill>
                <a:latin typeface="AvenirNextLTPro"/>
              </a:rPr>
              <a:t>Adapt models to work in real-time scenarios, providing instant predictions and adaptive learning capabilities.</a:t>
            </a:r>
          </a:p>
          <a:p>
            <a:pPr marL="0" indent="0" algn="just">
              <a:buNone/>
            </a:pPr>
            <a:r>
              <a:rPr lang="en-IN" sz="2400" dirty="0">
                <a:solidFill>
                  <a:srgbClr val="FFFF00"/>
                </a:solidFill>
                <a:latin typeface="AvenirNextLTPro"/>
              </a:rPr>
              <a:t>Continuous Evaluation: </a:t>
            </a:r>
            <a:r>
              <a:rPr lang="en-IN" sz="2400" dirty="0">
                <a:solidFill>
                  <a:schemeClr val="bg1"/>
                </a:solidFill>
                <a:latin typeface="AvenirNextLTPro"/>
              </a:rPr>
              <a:t>Implement monitoring systems to track algorithmic performance over time, allowing for adjustments and improvements as needed.</a:t>
            </a:r>
          </a:p>
          <a:p>
            <a:pPr marL="0" indent="0" algn="just">
              <a:buNone/>
            </a:pPr>
            <a:r>
              <a:rPr lang="en-IN" sz="2400" dirty="0">
                <a:solidFill>
                  <a:srgbClr val="FFFF00"/>
                </a:solidFill>
                <a:latin typeface="AvenirNextLTPro"/>
              </a:rPr>
              <a:t>Ensemble Techniques: </a:t>
            </a:r>
            <a:r>
              <a:rPr lang="en-IN" sz="2400" dirty="0">
                <a:solidFill>
                  <a:schemeClr val="bg1"/>
                </a:solidFill>
                <a:latin typeface="AvenirNextLTPro"/>
              </a:rPr>
              <a:t>Combine top-performing models to create a more robust and accurate predictive system.</a:t>
            </a:r>
          </a:p>
          <a:p>
            <a:pPr algn="l"/>
            <a:br>
              <a:rPr lang="en-IN" sz="2000" b="0" i="0" dirty="0">
                <a:solidFill>
                  <a:srgbClr val="000000"/>
                </a:solidFill>
                <a:effectLst/>
                <a:latin typeface="Söhne"/>
              </a:rPr>
            </a:br>
            <a:endParaRPr lang="en-IN" sz="2000" b="0" i="0" dirty="0">
              <a:solidFill>
                <a:srgbClr val="000000"/>
              </a:solidFill>
              <a:effectLst/>
              <a:latin typeface="Söhne"/>
            </a:endParaRPr>
          </a:p>
          <a:p>
            <a:pPr marL="0" indent="0">
              <a:lnSpc>
                <a:spcPct val="100000"/>
              </a:lnSpc>
              <a:buNone/>
            </a:pPr>
            <a:br>
              <a:rPr lang="en-IN" sz="2200" dirty="0">
                <a:solidFill>
                  <a:schemeClr val="bg1"/>
                </a:solidFill>
              </a:rPr>
            </a:br>
            <a:endParaRPr lang="en-IN" sz="2200" dirty="0">
              <a:solidFill>
                <a:schemeClr val="bg1"/>
              </a:solidFill>
            </a:endParaRPr>
          </a:p>
          <a:p>
            <a:pPr marL="0" indent="0">
              <a:buNone/>
            </a:pPr>
            <a:endParaRPr lang="en-IN" dirty="0">
              <a:solidFill>
                <a:schemeClr val="bg1"/>
              </a:solidFill>
            </a:endParaRPr>
          </a:p>
        </p:txBody>
      </p:sp>
    </p:spTree>
    <p:extLst>
      <p:ext uri="{BB962C8B-B14F-4D97-AF65-F5344CB8AC3E}">
        <p14:creationId xmlns:p14="http://schemas.microsoft.com/office/powerpoint/2010/main" val="1386468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2B718-E3D7-CE77-C691-92D6E4F92A63}"/>
              </a:ext>
            </a:extLst>
          </p:cNvPr>
          <p:cNvSpPr>
            <a:spLocks noGrp="1"/>
          </p:cNvSpPr>
          <p:nvPr>
            <p:ph type="title"/>
          </p:nvPr>
        </p:nvSpPr>
        <p:spPr>
          <a:xfrm>
            <a:off x="3754583" y="2826328"/>
            <a:ext cx="11139053" cy="4322618"/>
          </a:xfrm>
        </p:spPr>
        <p:txBody>
          <a:bodyPr>
            <a:normAutofit/>
          </a:bodyPr>
          <a:lstStyle/>
          <a:p>
            <a:r>
              <a:rPr lang="en-US" sz="6600" dirty="0">
                <a:solidFill>
                  <a:srgbClr val="FFFF00"/>
                </a:solidFill>
              </a:rPr>
              <a:t>THANK YOU</a:t>
            </a:r>
          </a:p>
        </p:txBody>
      </p:sp>
    </p:spTree>
    <p:extLst>
      <p:ext uri="{BB962C8B-B14F-4D97-AF65-F5344CB8AC3E}">
        <p14:creationId xmlns:p14="http://schemas.microsoft.com/office/powerpoint/2010/main" val="1755559792"/>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emplate>{DDE25CA2-FC44-1842-88D0-CD9562B65667}tf10001062</Template>
  <TotalTime>11820</TotalTime>
  <Words>1370</Words>
  <Application>Microsoft Macintosh PowerPoint</Application>
  <PresentationFormat>Widescreen</PresentationFormat>
  <Paragraphs>92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AvenirNextLTPro</vt:lpstr>
      <vt:lpstr>Grandview Display</vt:lpstr>
      <vt:lpstr>Helvetica Neue</vt:lpstr>
      <vt:lpstr>Söhne</vt:lpstr>
      <vt:lpstr>TimesNewRomanPSMT</vt:lpstr>
      <vt:lpstr>DashVTI</vt:lpstr>
      <vt:lpstr>Predicting Student’s Academic Performance using Machine Learning</vt:lpstr>
      <vt:lpstr>Abstract</vt:lpstr>
      <vt:lpstr>Abstract</vt:lpstr>
      <vt:lpstr>Introduction</vt:lpstr>
      <vt:lpstr>Literature Survey</vt:lpstr>
      <vt:lpstr>Literature Survey</vt:lpstr>
      <vt:lpstr>Objective</vt:lpstr>
      <vt:lpstr>Methodology</vt:lpstr>
      <vt:lpstr>Methodology</vt:lpstr>
      <vt:lpstr>Methodology</vt:lpstr>
      <vt:lpstr>Results</vt:lpstr>
      <vt:lpstr>Results</vt:lpstr>
      <vt:lpstr>Results</vt:lpstr>
      <vt:lpstr>Results</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Student’s Academic Performance using Machine Learning</dc:title>
  <dc:creator>Gilbert Raj V</dc:creator>
  <cp:lastModifiedBy>Gilbert Vijayan</cp:lastModifiedBy>
  <cp:revision>9</cp:revision>
  <dcterms:created xsi:type="dcterms:W3CDTF">2023-10-12T14:44:35Z</dcterms:created>
  <dcterms:modified xsi:type="dcterms:W3CDTF">2026-04-10T02:42:04Z</dcterms:modified>
</cp:coreProperties>
</file>